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3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41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42D58"/>
          </a:solidFill>
          <a:ln w="12700">
            <a:solidFill>
              <a:srgbClr val="142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3200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3200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3200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3200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3200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09728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09728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09728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09728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09728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87452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87452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7452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187452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87452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651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651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651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2651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651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42900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342900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342900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342900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342900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2062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42062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42062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42062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420624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23760" y="1463040"/>
            <a:ext cx="1097280" cy="10972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114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PERFECT SKILLS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8686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Recognition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System</a:t>
            </a:r>
            <a:endParaRPr lang="en-US" sz="3800" dirty="0"/>
          </a:p>
        </p:txBody>
      </p:sp>
      <p:sp>
        <p:nvSpPr>
          <p:cNvPr id="37" name="Text 34"/>
          <p:cNvSpPr/>
          <p:nvPr/>
        </p:nvSpPr>
        <p:spPr>
          <a:xfrm>
            <a:off x="411480" y="2304288"/>
            <a:ext cx="1463040" cy="365760"/>
          </a:xfrm>
          <a:prstGeom prst="rect">
            <a:avLst/>
          </a:prstGeom>
          <a:solidFill>
            <a:srgbClr val="1A9F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11480" y="2761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CCTV-Based Attendance Capture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11480" y="3310128"/>
            <a:ext cx="5303520" cy="0"/>
          </a:xfrm>
          <a:prstGeom prst="line">
            <a:avLst/>
          </a:prstGeom>
          <a:noFill/>
          <a:ln w="10160">
            <a:solidFill>
              <a:srgbClr val="2E5A8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Classrooms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11480" y="3749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19456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7,000 Students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194560" y="3749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97764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977640" y="3749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11480" y="4754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51560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527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143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attendance is broken at scale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984248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984248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854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075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 — automated, on-premise, camera-driven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916936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16936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181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008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Perfect Skills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3009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track record and credentials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849624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849624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50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941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2336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cameras, and student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051560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051560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2527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1143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Do 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and technology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984248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984248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1854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2075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&amp; Options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plan and attendance capture modes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916936"/>
            <a:ext cx="4069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916936"/>
            <a:ext cx="45720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1181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94960" y="3008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FAQ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33009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answered</a:t>
            </a:r>
            <a:endParaRPr lang="en-US" sz="9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at scale is broken — and it's costing your institution every single 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8745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733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5–10 min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class period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roll-call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508760"/>
            <a:ext cx="18745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6733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doing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manually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508760"/>
            <a:ext cx="18745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6733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0060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508760"/>
            <a:ext cx="18745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6733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0372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reports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72968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8408" y="3127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Wasted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78408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spend 5–10 min per period on roll-call — time that should go to teaching.</a:t>
            </a:r>
            <a:endParaRPr lang="en-US" sz="8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776472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78408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Proxy Attendance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978408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mark absent peers as present. Academic integrity and UGC compliance are at risk.</a:t>
            </a:r>
            <a:endParaRPr lang="en-US" sz="8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379976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8408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Data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978408" y="4535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can't monitor attendance live — reports are compiled manually, often days later.</a:t>
            </a:r>
            <a:endParaRPr lang="en-US" sz="8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17296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21808" y="3127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Siloed &amp; Error-Prone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321808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registers and spreadsheets make audits and student alerts unreliable.</a:t>
            </a:r>
            <a:endParaRPr lang="en-US" sz="8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7764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21808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Impossible to Scale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321808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7,000 students and 150 rooms, any manual system is fundamentally unscalable.</a:t>
            </a:r>
            <a:endParaRPr lang="en-US" sz="8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 uses existing CCTV cameras to automatically capture and record attendance — with zero manual effort and zero data leaving your premises.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87452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27632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957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cloud. Your data stays on campus.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508760"/>
            <a:ext cx="187452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1627632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Effort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3957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attendance capture.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508760"/>
            <a:ext cx="1874520" cy="137160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627632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09160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3957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real classroom conditions.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1508760"/>
            <a:ext cx="1874520" cy="1371600"/>
          </a:xfrm>
          <a:prstGeom prst="rect">
            <a:avLst/>
          </a:prstGeom>
          <a:solidFill>
            <a:srgbClr val="1A9F6E"/>
          </a:solidFill>
          <a:ln w="12700">
            <a:solidFill>
              <a:srgbClr val="1A9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1627632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12280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Rooms Simultaneously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23957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handles the entire campus.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054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FRAS Solves Each Problem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438144"/>
            <a:ext cx="3566160" cy="3017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3438144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182880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04672" y="3483864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roll-call</a:t>
            </a:r>
            <a:endParaRPr lang="en-US" sz="9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483864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462272" y="348386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automatically — no faculty action required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02920" y="3822192"/>
            <a:ext cx="3566160" cy="3017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60520" y="3822192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67912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04672" y="386791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9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867912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462272" y="386791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= physical presence is the only valid proof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02920" y="4206240"/>
            <a:ext cx="3566160" cy="3017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160520" y="4206240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51960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04672" y="425196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95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4251960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462272" y="425196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updated after every session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502920" y="4590288"/>
            <a:ext cx="3566160" cy="3017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160520" y="4590288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04672" y="463600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95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4636008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462272" y="463600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DB with Excel/PDF exports and automated alerts</a:t>
            </a:r>
            <a:endParaRPr lang="en-US" sz="950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Perfect Skills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24128"/>
            <a:ext cx="2606040" cy="1325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97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in last 12 months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024128"/>
            <a:ext cx="2606040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097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Weeks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Deployment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Scale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024128"/>
            <a:ext cx="2606040" cy="1325880"/>
          </a:xfrm>
          <a:prstGeom prst="rect">
            <a:avLst/>
          </a:prstGeom>
          <a:solidFill>
            <a:srgbClr val="1A9F6E"/>
          </a:solidFill>
          <a:ln w="12700">
            <a:solidFill>
              <a:srgbClr val="1A9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097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Accuracy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Live Environments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523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Differentiators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4069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07792"/>
            <a:ext cx="384048" cy="56692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03580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78408" y="29809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 Expertise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78408" y="32004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entirely on your local infrastructure. No cloud, no data privacy concerns.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02920" y="3578633"/>
            <a:ext cx="4069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02920" y="3578633"/>
            <a:ext cx="384048" cy="56692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706649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78408" y="3651785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Ownership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78408" y="3871241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 handover — we own the full project. One point of contact.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846320" y="2907792"/>
            <a:ext cx="4069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46320" y="2907792"/>
            <a:ext cx="384048" cy="56692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303580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21808" y="29809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AI Stack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321808" y="32004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+ ArcFace + FAISS — the same stack used by enterprise identity systems.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4846320" y="3575304"/>
            <a:ext cx="4069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846320" y="3575304"/>
            <a:ext cx="384048" cy="56692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703320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21808" y="36484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Fast, Low-Disruption Rollout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321808" y="386791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phased deployment designed around academic schedules.</a:t>
            </a:r>
            <a:endParaRPr lang="en-US" sz="85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—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happens locally. No internet required for day-to-day operation.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863840" y="1005840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371600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371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31720" y="1371600"/>
            <a:ext cx="6492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1426464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Xeon or AMD EPYC — 8+ cores recommended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1956816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19568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31720" y="1956816"/>
            <a:ext cx="649224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87168" y="2011680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with 8GB+ VRAM (e.g. RTX 3070, T4, A10)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processing 150 cameras simultaneously. CPU-only will be too slow.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542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31720" y="2542032"/>
            <a:ext cx="6492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87168" y="2596896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 minimum — 64 GB recommended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3127248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127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331720" y="3127248"/>
            <a:ext cx="649224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87168" y="3182112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 SSD for OS, software, and student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HDD for video buffer if required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3712464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7124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331720" y="3712464"/>
            <a:ext cx="6492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87168" y="3767328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Gigabit LAN — cameras and server must be on the same local network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4297680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331720" y="4297680"/>
            <a:ext cx="649224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87168" y="4352544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(recommended) or Windows Server 2019+</a:t>
            </a:r>
            <a:endParaRPr lang="en-US" sz="10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— Cameras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placement and quality are the single biggest factor in system accuracy.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909560" y="914400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371600"/>
            <a:ext cx="201168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3716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14600" y="1371600"/>
            <a:ext cx="6309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142646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1080p Full HD. Existing 2K CCTV can be reused if RTSP-compatible.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1956816"/>
            <a:ext cx="201168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1956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14600" y="1956816"/>
            <a:ext cx="630936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1760" y="20116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support is mandatory for live video ingestion into the processing server.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201168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542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Mounting Position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514600" y="2542032"/>
            <a:ext cx="6309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51760" y="259689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classroom, above the blackboard. Front-corner mounting reduces accuracy. Center mount achieves 90–95%.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3127248"/>
            <a:ext cx="201168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1272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Mounting Height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514600" y="3127248"/>
            <a:ext cx="630936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51760" y="318211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feet from the floor, with 15–20° downward tilt for optimal frontal face capture.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3712464"/>
            <a:ext cx="201168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712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514600" y="3712464"/>
            <a:ext cx="6309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51760" y="376732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DS-2CD1023G0E  |  CP Plus CP-UNC-TA21PL3  |  Any 1080p+ IP cam with RTSP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4297680"/>
            <a:ext cx="201168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42976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Lighting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514600" y="4297680"/>
            <a:ext cx="630936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D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651760" y="435254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lighting across the full seating area. Backlit rooms reduce accuracy by 10–15%. LED panel lighting recommended.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2920" y="4882896"/>
            <a:ext cx="8321040" cy="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— Student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83210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78992"/>
            <a:ext cx="658368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1887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 per Student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98448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photos minimum. Mix of front-facing and slight-angle shots preferred. College ID card photos are acceptable as the primary photo.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048256"/>
            <a:ext cx="83210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048256"/>
            <a:ext cx="658368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249424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98448" y="21579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Quality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298448" y="24323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well-lit, unmasked. Avoid blurry or heavily filtered images. Good enrollment photos directly improve identification accuracy.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83210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3017520"/>
            <a:ext cx="658368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1868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98448" y="31272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Metadata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298448" y="3401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ID, Full Name, Class/Section, Roll Number — provided in Excel or CSV format.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2920" y="3986784"/>
            <a:ext cx="83210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986784"/>
            <a:ext cx="658368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18795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98448" y="40965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Classroom Mapping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298448" y="43708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all 150 classrooms with the students/sections attending each room — used for automated attendance tagging.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41248" y="4800600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Do It — End-to-End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pipeline — fully automated, entirely on-premise.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353312"/>
            <a:ext cx="123444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82496"/>
            <a:ext cx="530352" cy="5303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737360" y="2057400"/>
            <a:ext cx="182880" cy="0"/>
          </a:xfrm>
          <a:prstGeom prst="line">
            <a:avLst/>
          </a:prstGeom>
          <a:noFill/>
          <a:ln w="19050">
            <a:solidFill>
              <a:srgbClr val="8F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20240" y="1353312"/>
            <a:ext cx="1234440" cy="1417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920240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1682496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20240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154680" y="2057400"/>
            <a:ext cx="182880" cy="0"/>
          </a:xfrm>
          <a:prstGeom prst="line">
            <a:avLst/>
          </a:prstGeom>
          <a:noFill/>
          <a:ln w="19050">
            <a:solidFill>
              <a:srgbClr val="8FA0B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37560" y="1353312"/>
            <a:ext cx="1234440" cy="141732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337560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682496"/>
            <a:ext cx="530352" cy="530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37560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0" y="2057400"/>
            <a:ext cx="182880" cy="0"/>
          </a:xfrm>
          <a:prstGeom prst="line">
            <a:avLst/>
          </a:prstGeom>
          <a:noFill/>
          <a:ln w="19050">
            <a:solidFill>
              <a:srgbClr val="8FA0B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54880" y="1353312"/>
            <a:ext cx="123444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754880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682496"/>
            <a:ext cx="530352" cy="5303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54880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989320" y="2057400"/>
            <a:ext cx="182880" cy="0"/>
          </a:xfrm>
          <a:prstGeom prst="line">
            <a:avLst/>
          </a:prstGeom>
          <a:noFill/>
          <a:ln w="19050">
            <a:solidFill>
              <a:srgbClr val="8FA0B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72200" y="1353312"/>
            <a:ext cx="1234440" cy="1417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6172200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1682496"/>
            <a:ext cx="530352" cy="5303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72200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406640" y="2057400"/>
            <a:ext cx="182880" cy="0"/>
          </a:xfrm>
          <a:prstGeom prst="line">
            <a:avLst/>
          </a:prstGeom>
          <a:noFill/>
          <a:ln w="19050">
            <a:solidFill>
              <a:srgbClr val="8FA0B5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589520" y="1353312"/>
            <a:ext cx="1234440" cy="141732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589520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1682496"/>
            <a:ext cx="530352" cy="5303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589520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02920" y="29077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Student Enrollment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502920" y="3108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photos per student → ArcFace generates 512-dimensional embeddings → stored in local vector DB. No photos retained after enrollment.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502920" y="35661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Camera Feed Ingestion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02920" y="37673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 stream via RTSP to the local server. Frames captured at configurable intervals (hourly / daily / random).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502920" y="42245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Face Detection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502920" y="44256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InsightFace/RetinaFace scans each frame. Only detections with confidence &gt; 0.75 pass to the next stage.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4846320" y="29077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Face Identification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4846320" y="3108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face matched against 7,000-student FAISS vector DB using nearest-neighbour search. Unmatched faces flagged Unknown.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4846320" y="35661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Attendance Logging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4846320" y="37673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marked Present only when detected reliably across 3+ frames in a session — minimising false positives.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4846320" y="42245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Dashboard &amp; Reports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4846320" y="44256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searchable by student, class, date, or subject. Excel/PDF exports. Alerts for attendance &lt; 75%.</a:t>
            </a:r>
            <a:endParaRPr lang="en-US" sz="850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 &amp; Accuracy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406908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51560"/>
            <a:ext cx="128016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258" y="139903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1143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InsightFace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(RetinaFace)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161848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classroom CCTV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13432"/>
            <a:ext cx="406908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13432"/>
            <a:ext cx="128016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654156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74520" y="24048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ArcFace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512-D Embeddings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288036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at scale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575304"/>
            <a:ext cx="406908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575304"/>
            <a:ext cx="128016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925616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74520" y="36667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74520" y="41422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nearest-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search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406908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051560"/>
            <a:ext cx="128016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399654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Ingestion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0" y="1143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RTSP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 Sampling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161848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captured every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seconds per camera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313432"/>
            <a:ext cx="406908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313432"/>
            <a:ext cx="128016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651759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4048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AI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288036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simultaneous rooms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575304"/>
            <a:ext cx="406908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575304"/>
            <a:ext cx="128016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922776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36667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Web-Based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41422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 internal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no internet needed</a:t>
            </a:r>
            <a:endParaRPr lang="en-US" sz="9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Timeline — 3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56734"/>
            <a:ext cx="2633472" cy="5120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7502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77619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Enrollment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068798"/>
            <a:ext cx="2633472" cy="1495107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68798"/>
            <a:ext cx="73152" cy="149510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18309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setup and software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RTSP validation — all 150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 collection and DB enrollment (7,000 students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 generation and vector DB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run in 2–3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23544" y="278203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337560" y="1556734"/>
            <a:ext cx="2633472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3337560" y="157502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3337560" y="177619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Calibration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337560" y="2068798"/>
            <a:ext cx="2633472" cy="1495107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337560" y="2068798"/>
            <a:ext cx="73152" cy="1495107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593592" y="218767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15–20 classrooms for accuracy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identification accuracy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known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confidence thresholds per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9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 — haircuts, glasses, lighting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misidentifications and tune camera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3758184" y="278203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3758184" y="334895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3758184" y="338328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3758184" y="395020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6172200" y="1556734"/>
            <a:ext cx="2633472" cy="512064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27"/>
          <p:cNvSpPr/>
          <p:nvPr/>
        </p:nvSpPr>
        <p:spPr>
          <a:xfrm>
            <a:off x="6172200" y="157502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950" dirty="0"/>
          </a:p>
        </p:txBody>
      </p:sp>
      <p:sp>
        <p:nvSpPr>
          <p:cNvPr id="40" name="Text 28"/>
          <p:cNvSpPr/>
          <p:nvPr/>
        </p:nvSpPr>
        <p:spPr>
          <a:xfrm>
            <a:off x="6172200" y="177619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 &amp; Handover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172200" y="2068798"/>
            <a:ext cx="2633472" cy="1495107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6172200" y="2068798"/>
            <a:ext cx="73152" cy="1495107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6428232" y="218767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across all 150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reporting setup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on attendance portal and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attendance capture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documentation and support </a:t>
            </a:r>
            <a:r>
              <a:rPr lang="en-US" sz="9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6592824" y="278203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Text 33"/>
          <p:cNvSpPr/>
          <p:nvPr/>
        </p:nvSpPr>
        <p:spPr>
          <a:xfrm>
            <a:off x="6592824" y="334895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34"/>
          <p:cNvSpPr/>
          <p:nvPr/>
        </p:nvSpPr>
        <p:spPr>
          <a:xfrm>
            <a:off x="6592824" y="338328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35"/>
          <p:cNvSpPr/>
          <p:nvPr/>
        </p:nvSpPr>
        <p:spPr>
          <a:xfrm>
            <a:off x="6592824" y="395020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3" name="Text 36"/>
          <p:cNvSpPr/>
          <p:nvPr/>
        </p:nvSpPr>
        <p:spPr>
          <a:xfrm>
            <a:off x="502920" y="4709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Timeline assumes the server is ready and cameras are RTSP-accessible from Day 1. Hardware procurement should be completed before Week 1.</a:t>
            </a:r>
            <a:endParaRPr lang="en-US" sz="800" dirty="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Capture Options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mode — or combine options for maximum effectiveness.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316736"/>
            <a:ext cx="2633472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3502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5179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Hour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792224"/>
            <a:ext cx="2633472" cy="2670048"/>
          </a:xfrm>
          <a:prstGeom prst="rect">
            <a:avLst/>
          </a:prstGeom>
          <a:solidFill>
            <a:srgbClr val="F7FB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" y="188366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7512" y="206654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at start of every class period. Attendance logged per period.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" y="2505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7512" y="268833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/ period-wise attendance (% per subject)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31272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load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7512" y="3310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processes 6–8× per day per room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" y="374904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risk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7512" y="39319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multiple data points per 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462272"/>
            <a:ext cx="263347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8970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RECOMMENDED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1316736"/>
            <a:ext cx="2633472" cy="475488"/>
          </a:xfrm>
          <a:prstGeom prst="rect">
            <a:avLst/>
          </a:prstGeom>
          <a:solidFill>
            <a:srgbClr val="5A6A80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33502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15179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Once a Day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1792224"/>
            <a:ext cx="2633472" cy="2670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02152" y="188366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02152" y="206654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capture per classroom per day — typically first period.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2152" y="2505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02152" y="268833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needing a simple daily present/absent record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02152" y="31272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load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02152" y="3310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one job per classroom per 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02152" y="374904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risk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02152" y="39319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one missed capture = full day absent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1316736"/>
            <a:ext cx="2633472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33502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15179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Interval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72200" y="1792224"/>
            <a:ext cx="2633472" cy="2670048"/>
          </a:xfrm>
          <a:prstGeom prst="rect">
            <a:avLst/>
          </a:prstGeom>
          <a:solidFill>
            <a:srgbClr val="F7FB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36792" y="188366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36792" y="206654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at unpredictable times within a configured window (e.g. 9am–11am).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36792" y="2505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36792" y="268833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proxy attendance — students can't predict capture time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36792" y="31272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load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36792" y="3310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spread across the day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36792" y="374904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risk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36792" y="39319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unpredictability deters proxies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72200" y="4462272"/>
            <a:ext cx="2633472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448970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RECOMMENDED</a:t>
            </a:r>
            <a:endParaRPr lang="en-US" sz="850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Recommendation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college with 150 classrooms and subject-wise attendance requirements — standard for UGC compliance — we recommend: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8321040" cy="969264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463040"/>
            <a:ext cx="1188720" cy="9692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5544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Hour — Primary Mode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186537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subject-wise attendance is captured per period, giving a % attendance figure per subject — required for UGC/university compliance.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8321040" cy="969264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560320"/>
            <a:ext cx="118872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24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6517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Interval — Add-On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96265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Deters proxy attendance effectively. Students cannot predict when capture happens, making it impossible to cheat.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8321040" cy="969264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657600"/>
            <a:ext cx="1188720" cy="969264"/>
          </a:xfrm>
          <a:prstGeom prst="rect">
            <a:avLst/>
          </a:prstGeom>
          <a:solidFill>
            <a:srgbClr val="8FA0B5"/>
          </a:solidFill>
          <a:ln w="12700">
            <a:solidFill>
              <a:srgbClr val="8F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7490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Once a Day — Fallback / Start Option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405993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used if server capacity is a constraint early on, with a clear upgrade path to Option 1 once the system is stable.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633256"/>
            <a:ext cx="8321040" cy="228600"/>
          </a:xfrm>
          <a:prstGeom prst="rect">
            <a:avLst/>
          </a:prstGeom>
          <a:solidFill>
            <a:srgbClr val="EBF2FA"/>
          </a:solidFill>
          <a:ln w="7620">
            <a:solidFill>
              <a:srgbClr val="E4EBF5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669832"/>
            <a:ext cx="164592" cy="16459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22960" y="466983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support a phased rollout — starting with Option 2, then upgrading to Option 1 + 3 as the system stabilises.</a:t>
            </a:r>
            <a:endParaRPr lang="en-US" sz="9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FAQ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Questions Answered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406908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51560"/>
            <a:ext cx="4069080" cy="29260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8813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088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a student wears a mask or glasses?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2648" y="1399032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have minimal impact on ArcFace accuracy. Masks do reduce accuracy — we recommend a mask-free attendance policy during capture windows, consistent with most institutions.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" y="2350008"/>
            <a:ext cx="406908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350008"/>
            <a:ext cx="4069080" cy="29260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8658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2386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if the server goes down?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12648" y="269748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queues missed sessions and processes them when the server is back online. Sessions can also be marked manually via the dashboard as a fallback.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" y="3648456"/>
            <a:ext cx="406908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3648456"/>
            <a:ext cx="4069080" cy="29260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850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" y="36850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student data secure? Who can access it?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12648" y="3995928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on-premise — no cloud exposure. Access is controlled via role-based permissions on the dashboard. No photos are retained post-enrollment.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846320" y="1051560"/>
            <a:ext cx="406908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1051560"/>
            <a:ext cx="4069080" cy="29260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8813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1088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it integrate with our existing ERP / student system?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956048" y="1399032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we provide attendance data in standard formats (CSV/Excel/API) that can be consumed by most ERP and student information systems</a:t>
            </a:r>
            <a:r>
              <a:rPr lang="en-US" sz="900" dirty="0" smtClean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comes as an Add On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846320" y="2350008"/>
            <a:ext cx="406908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2350008"/>
            <a:ext cx="4069080" cy="29260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86584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2386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accuracy can we realistically expect?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956048" y="269748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 classroom </a:t>
            </a:r>
            <a:r>
              <a:rPr lang="en-US" sz="900" dirty="0" smtClean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of the shared video: </a:t>
            </a: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79.4% with corner-mounted cameras; 90–95% expected with center-mounted cameras and proper enrollment photos.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846320" y="3648456"/>
            <a:ext cx="406908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46320" y="3648456"/>
            <a:ext cx="4069080" cy="29260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68503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12080" y="36850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support do we get after go-live?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4956048" y="3995928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a defined support SLA as part of the </a:t>
            </a:r>
            <a:r>
              <a:rPr lang="en-US" sz="900" dirty="0" smtClean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based on mutual discussion. </a:t>
            </a: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includes issue resolution windows, update support, and a contact escalation matrix.</a:t>
            </a:r>
            <a:endParaRPr lang="en-US" sz="9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Expect — Accuracy Benchmarks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testing conducted in a real classroom environment — 42 students, 2K CCTV camera.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233172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554480"/>
            <a:ext cx="1783080" cy="150876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865285"/>
            <a:ext cx="1783080" cy="1197955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272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79.4%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Corner-mounted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(current)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14264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setup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33172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1880" y="1554480"/>
            <a:ext cx="1783080" cy="150876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667637"/>
            <a:ext cx="1783080" cy="1395603"/>
          </a:xfrm>
          <a:prstGeom prst="rect">
            <a:avLst/>
          </a:prstGeom>
          <a:solidFill>
            <a:srgbClr val="1A9F6E"/>
          </a:solidFill>
          <a:ln w="12700">
            <a:solidFill>
              <a:srgbClr val="1A9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1272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9F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Center-mounted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proper enrollment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14264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with FRAS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89320" y="1371600"/>
            <a:ext cx="233172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554480"/>
            <a:ext cx="1783080" cy="150876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658584"/>
            <a:ext cx="1783080" cy="14046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1272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93.1%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8932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14264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 accuracy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Factors That Drive Accuracy</a:t>
            </a:r>
            <a:endParaRPr lang="en-US" sz="12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5528" y="4389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Position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Center-mount vs corner-mount makes a 12–16% difference in accuracy.</a:t>
            </a:r>
            <a:endParaRPr lang="en-US" sz="8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4389120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898648" y="4389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 Lighting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65176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Backlighting or uneven lighting reduces detection by 10–15%.</a:t>
            </a:r>
            <a:endParaRPr lang="en-US" sz="8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89120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001768" y="4389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Quality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75488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diverse angle photos per student significantly improves matching.</a:t>
            </a:r>
            <a:endParaRPr lang="en-US" sz="8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9120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104888" y="4389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3-Frame Rule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85800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3+ frame confirmations minimises false positives dramatically.</a:t>
            </a:r>
            <a:endParaRPr lang="en-US" sz="80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Perfect Skills Delivers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0160">
            <a:solidFill>
              <a:srgbClr val="C8D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Skills</a:t>
            </a: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FRAS Proposal  |  Confidential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51560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5272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7864" y="1143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Installation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97864" y="1399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software installation and configuration on the provided server.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" y="2020824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020824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22199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97864" y="2112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Connectivity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97864" y="23682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connectivity setup and testing for all 150 cameras.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" y="2990088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2990088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19125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97864" y="3081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Enrollment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97864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processing, ArcFace embedding generation, and full vector DB build for 7,000 students.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02920" y="3959352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959352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16052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97864" y="4050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Dashboard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97864" y="4306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portal deployed on the institution's internal network.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846320" y="1051560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1051560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125272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41264" y="1143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&amp; Alerts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541264" y="1399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reports, export templates, and attendance threshold alerts.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846320" y="2020824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46320" y="2020824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2221992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41264" y="2112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Training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541264" y="23682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training session for admin and faculty on dashboard usage.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846320" y="2990088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846320" y="2990088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912" y="3191256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541264" y="3081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Handover Documentation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5541264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documentation, runbooks, and escalation contacts.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4846320" y="3959352"/>
            <a:ext cx="4069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846320" y="3959352"/>
            <a:ext cx="594360" cy="8229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4160520"/>
            <a:ext cx="292608" cy="29260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541264" y="4050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Post-Launch Support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5541264" y="4306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support SLA covering issue resolution and updates after go-live.</a:t>
            </a:r>
            <a:endParaRPr lang="en-US" sz="9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360" y="109728"/>
            <a:ext cx="1435383" cy="43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65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65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3657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2801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2801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2801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945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1945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21945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089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1089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31089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31089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233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233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0233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023360"/>
            <a:ext cx="54864" cy="54864"/>
          </a:xfrm>
          <a:prstGeom prst="lin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7772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Automate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at Scale?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371600" y="23042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your campus, your existing cameras, and your timeline.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2816352"/>
            <a:ext cx="4572000" cy="1408176"/>
          </a:xfrm>
          <a:prstGeom prst="rect">
            <a:avLst/>
          </a:prstGeom>
          <a:solidFill>
            <a:schemeClr val="bg1"/>
          </a:solidFill>
          <a:ln w="7620">
            <a:solidFill>
              <a:srgbClr val="E4EB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2816352"/>
            <a:ext cx="4572000" cy="73152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8097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is </a:t>
            </a:r>
            <a:r>
              <a:rPr lang="en-US" sz="800" dirty="0" smtClean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confidential.</a:t>
            </a:r>
            <a:endParaRPr lang="en-US" sz="8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640" y="3199308"/>
            <a:ext cx="2384720" cy="715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2042</Words>
  <Application>Microsoft Office PowerPoint</Application>
  <PresentationFormat>On-screen Show (16:9)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FRAS – Face Recognition Attendance System</dc:title>
  <dc:subject>PptxGenJS Presentation</dc:subject>
  <dc:creator>Perfect Skills</dc:creator>
  <cp:lastModifiedBy>Admin</cp:lastModifiedBy>
  <cp:revision>12</cp:revision>
  <dcterms:created xsi:type="dcterms:W3CDTF">2026-03-21T19:08:35Z</dcterms:created>
  <dcterms:modified xsi:type="dcterms:W3CDTF">2026-03-22T08:39:22Z</dcterms:modified>
</cp:coreProperties>
</file>